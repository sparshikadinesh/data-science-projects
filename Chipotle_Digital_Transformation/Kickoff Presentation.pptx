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3" r:id="rId4"/>
  </p:sldMasterIdLst>
  <p:notesMasterIdLst>
    <p:notesMasterId r:id="rId14"/>
  </p:notesMasterIdLst>
  <p:handoutMasterIdLst>
    <p:handoutMasterId r:id="rId15"/>
  </p:handoutMasterIdLst>
  <p:sldIdLst>
    <p:sldId id="316" r:id="rId5"/>
    <p:sldId id="317" r:id="rId6"/>
    <p:sldId id="328" r:id="rId7"/>
    <p:sldId id="321" r:id="rId8"/>
    <p:sldId id="327" r:id="rId9"/>
    <p:sldId id="322" r:id="rId10"/>
    <p:sldId id="329" r:id="rId11"/>
    <p:sldId id="323" r:id="rId12"/>
    <p:sldId id="32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2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7419" autoAdjust="0"/>
  </p:normalViewPr>
  <p:slideViewPr>
    <p:cSldViewPr snapToGrid="0">
      <p:cViewPr varScale="1">
        <p:scale>
          <a:sx n="79" d="100"/>
          <a:sy n="79" d="100"/>
        </p:scale>
        <p:origin x="542" y="43"/>
      </p:cViewPr>
      <p:guideLst>
        <p:guide orient="horz" pos="2928"/>
        <p:guide pos="3840"/>
      </p:guideLst>
    </p:cSldViewPr>
  </p:slideViewPr>
  <p:outlineViewPr>
    <p:cViewPr>
      <p:scale>
        <a:sx n="33" d="100"/>
        <a:sy n="33" d="100"/>
      </p:scale>
      <p:origin x="0" y="-518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933"/>
    </p:cViewPr>
  </p:sorterViewPr>
  <p:notesViewPr>
    <p:cSldViewPr snapToGrid="0">
      <p:cViewPr varScale="1">
        <p:scale>
          <a:sx n="119" d="100"/>
          <a:sy n="119" d="100"/>
        </p:scale>
        <p:origin x="114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022A2D-42FA-4553-8772-8DAE87B7695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DD895D-FAE0-4BCC-A867-FF4B70D9BF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706EC-595E-4FD0-9EC4-968864CC93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699D8E-A980-43D3-BFB9-0812FFA36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4EE72E-E5A5-44ED-A736-DB8D8EE9B4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174123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42FC2-A162-47B3-989B-571A6241496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27727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9798E-90C4-48E6-B39B-37FF65347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0" y="1079500"/>
            <a:ext cx="7797799" cy="2138400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D95C8C-0A7F-40D9-A690-3D5898EFFE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08350" y="4113213"/>
            <a:ext cx="5575300" cy="1655762"/>
          </a:xfrm>
        </p:spPr>
        <p:txBody>
          <a:bodyPr/>
          <a:lstStyle>
            <a:lvl1pPr marL="0" indent="0" algn="ctr">
              <a:buNone/>
              <a:defRPr sz="24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322F3-E47A-4D6E-96A8-AB5C73B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BF5CE-9E66-4FD5-949F-34E11607C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DAB7A-4032-416A-B04E-1F4878912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1C0CAB-6A03-4C6A-9FAA-219847753628}"/>
              </a:ext>
            </a:extLst>
          </p:cNvPr>
          <p:cNvCxnSpPr>
            <a:cxnSpLocks/>
          </p:cNvCxnSpPr>
          <p:nvPr/>
        </p:nvCxnSpPr>
        <p:spPr>
          <a:xfrm>
            <a:off x="5826000" y="369087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white swirly design on a black background&#10;&#10;Description automatically generated">
            <a:extLst>
              <a:ext uri="{FF2B5EF4-FFF2-40B4-BE49-F238E27FC236}">
                <a16:creationId xmlns:a16="http://schemas.microsoft.com/office/drawing/2014/main" id="{1B96CCF8-45ED-37DF-D2AF-4A107F7758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8133" y="4090108"/>
            <a:ext cx="1688392" cy="168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6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217A-A229-4751-8D09-0CAD914F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A33-60C3-4B28-B3EF-E93D6D46A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D3B28-C66B-4279-AB67-2BC1D0123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8FF39-A0DA-4F77-9297-B83C86B57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D65A-9D4E-42F6-A8BF-1EEAFB180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70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17BB-B242-4CC6-887C-83E08CE2D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2252663"/>
            <a:ext cx="4457700" cy="2349500"/>
          </a:xfrm>
        </p:spPr>
        <p:txBody>
          <a:bodyPr anchor="ctr" anchorCtr="0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95823-EA83-493F-8FEC-C72B5B9CF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4800" y="2252664"/>
            <a:ext cx="4451348" cy="2349500"/>
          </a:xfrm>
        </p:spPr>
        <p:txBody>
          <a:bodyPr anchor="ctr" anchorCtr="0"/>
          <a:lstStyle>
            <a:lvl1pPr marL="0" indent="0">
              <a:buNone/>
              <a:defRPr sz="2400" i="1">
                <a:solidFill>
                  <a:schemeClr val="tx1">
                    <a:alpha val="7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08E54-36BB-4AB4-BE1F-5FA8207B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453A6A-C55A-40A1-A3BB-DB417047F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6E656-7AC0-4BD3-AFE5-4B5122E2F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7AA5779-FF0F-4ACF-A56C-710A4CDEC8A3}"/>
              </a:ext>
            </a:extLst>
          </p:cNvPr>
          <p:cNvGrpSpPr/>
          <p:nvPr userDrawn="1"/>
        </p:nvGrpSpPr>
        <p:grpSpPr>
          <a:xfrm>
            <a:off x="1437136" y="649304"/>
            <a:ext cx="388541" cy="388541"/>
            <a:chOff x="5752675" y="5440856"/>
            <a:chExt cx="388541" cy="388541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F0ADB13-4626-4F84-B513-0B58E65C248E}"/>
                </a:ext>
              </a:extLst>
            </p:cNvPr>
            <p:cNvSpPr/>
            <p:nvPr/>
          </p:nvSpPr>
          <p:spPr>
            <a:xfrm rot="10800000">
              <a:off x="5800801" y="5488982"/>
              <a:ext cx="340415" cy="340415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AF46BC46-AD78-4932-95BA-D3009154CA7A}"/>
                </a:ext>
              </a:extLst>
            </p:cNvPr>
            <p:cNvSpPr/>
            <p:nvPr/>
          </p:nvSpPr>
          <p:spPr>
            <a:xfrm>
              <a:off x="5752675" y="5440856"/>
              <a:ext cx="340415" cy="34041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8118F0-6EA8-4901-9161-9101C6DDD97E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white swirly design on a black background&#10;&#10;Description automatically generated">
            <a:extLst>
              <a:ext uri="{FF2B5EF4-FFF2-40B4-BE49-F238E27FC236}">
                <a16:creationId xmlns:a16="http://schemas.microsoft.com/office/drawing/2014/main" id="{49405D4E-A46D-6524-832A-E4BFB72AA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9904427">
            <a:off x="-54982" y="143934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87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013D-A80D-4455-B886-0C3448294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9D3AB-20B9-4D90-8106-506F443682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85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9DF39-257F-4C10-A7B4-1AA1C66F2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000" y="1790700"/>
            <a:ext cx="4740150" cy="39782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57E5E-B324-4633-AB65-4A53498B9F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42A16D-8423-4C91-B839-F95380250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AD46B-C875-4F91-8991-4A4E5D768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280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70C3-74D3-4445-A879-4F7CF42ED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</p:spPr>
        <p:txBody>
          <a:bodyPr>
            <a:normAutofit/>
          </a:bodyPr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64494-3C1C-49FE-ADB2-6F41CEEA8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EE19A6-8340-43A4-9B30-A27DEB9E2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9500" y="2525561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9D4B31-0090-483A-BF84-CEA2B22D51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64950" y="1854200"/>
            <a:ext cx="4741200" cy="553998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0" cap="all" spc="300" baseline="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8DB9E9-0BD8-4F85-9342-5C5BA0D35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64950" y="2525560"/>
            <a:ext cx="4741200" cy="3243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AE3D3E-6168-45C3-BAB4-04FFFB9835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F8D02-7CCF-4321-847A-CD553E52A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66368-2A9A-4617-A2A9-E4E9ACD06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87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0855A-C7D7-455F-BD47-AB4221DD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79500"/>
            <a:ext cx="10026650" cy="468947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29F6FD-C2F8-4688-B52A-ED76F48B8B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58F0F-237C-4F8E-A5A7-48269F700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C3629E-70C3-44A4-A268-2194CD424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7268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2D4-EC56-49D3-B967-D972B5E5E2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2C3171-136A-405F-B1CF-C0DAFAA2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523E7E-BA29-40D2-BE24-10E7F7050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126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607EF-706F-47DD-B487-7C3E4EDE1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607" y="1011238"/>
            <a:ext cx="3906000" cy="1292400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98442-7D9F-4D62-866B-FBA382F06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37200" y="955230"/>
            <a:ext cx="5583193" cy="4813745"/>
          </a:xfrm>
        </p:spPr>
        <p:txBody>
          <a:bodyPr/>
          <a:lstStyle>
            <a:lvl1pPr marL="0" indent="0">
              <a:lnSpc>
                <a:spcPct val="100000"/>
              </a:lnSpc>
              <a:buFontTx/>
              <a:buNone/>
              <a:defRPr sz="4800"/>
            </a:lvl1pPr>
            <a:lvl2pPr marL="0">
              <a:lnSpc>
                <a:spcPct val="100000"/>
              </a:lnSpc>
              <a:defRPr sz="4800"/>
            </a:lvl2pPr>
            <a:lvl3pPr marL="0" indent="0">
              <a:buNone/>
              <a:defRPr sz="2000"/>
            </a:lvl3pPr>
            <a:lvl4pPr marL="0">
              <a:defRPr sz="2000"/>
            </a:lvl4pPr>
            <a:lvl5pPr marL="360000"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D1DB7-AC43-460E-B3C5-9F8B37D1B5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499" y="2664000"/>
            <a:ext cx="3905999" cy="31068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0C5DE9-6995-4F6E-AF64-6CE9A677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BC655-2B4D-48CA-90B9-740400332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4A7E0-1D83-4CE0-9FFE-3EEE2B3C2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341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F7F85-950A-4BED-AE31-5C85DE4F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1" y="1011238"/>
            <a:ext cx="3905250" cy="1292662"/>
          </a:xfrm>
        </p:spPr>
        <p:txBody>
          <a:bodyPr anchor="t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13A008-3741-4305-8A06-C0D8404A32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31813"/>
            <a:ext cx="6113812" cy="578484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2ADC63-3365-4920-AF26-600F4D2EA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9500" y="2663825"/>
            <a:ext cx="3905250" cy="31051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C161BE-EF8B-4F4D-8197-61442EBC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D37897-BFE5-414E-9334-53116988D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5BF024-9A20-4B80-976D-420DCCD16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3931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794F-0C7D-47A6-A355-9B54F3A08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18BEFC-5F95-43C3-A662-CF24426CB3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500" y="1790700"/>
            <a:ext cx="10026650" cy="39782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020A41-C226-41AB-8766-C9BF3E9B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795E9-017B-4505-810D-A5F553A5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6A1BD-3429-4C11-B230-8AD083EC3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57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11CA2-18BF-408B-A40C-B43A0A7B80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899079" y="1079500"/>
            <a:ext cx="1292662" cy="4689476"/>
          </a:xfrm>
        </p:spPr>
        <p:txBody>
          <a:bodyPr vert="eaVer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E424B6-12FC-41A1-AF7C-7E3931D972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9499" y="1079500"/>
            <a:ext cx="8495943" cy="46894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5CF957-F921-48CF-97FE-91190C1AE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3F49D-6E0C-47F7-BAAD-A427913DC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/>
          <a:lstStyle/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8A122-F390-46CF-BECF-3AE05CA58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/>
          <a:lstStyle/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137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2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7A45527-A259-1C6D-E8B4-514715484B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245608"/>
            <a:ext cx="12192000" cy="3612392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3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548640"/>
            <a:ext cx="3886200" cy="2304288"/>
          </a:xfrm>
        </p:spPr>
        <p:txBody>
          <a:bodyPr wrap="square" anchor="ctr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4ACBDB-D54B-994A-AD88-E89D37245FAD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534660" y="548641"/>
            <a:ext cx="6130625" cy="2304288"/>
          </a:xfrm>
        </p:spPr>
        <p:txBody>
          <a:bodyPr anchor="ctr">
            <a:noAutofit/>
          </a:bodyPr>
          <a:lstStyle>
            <a:lvl1pPr marL="512064" indent="-5120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D8447B1-F82E-026F-7FF0-7E95D361E7A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520387" y="3735238"/>
            <a:ext cx="6130625" cy="257412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80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Wingdings" panose="05000000000000000000" pitchFamily="2" charset="2"/>
              <a:buChar char=""/>
              <a:defRPr sz="1800" i="0"/>
            </a:lvl2pPr>
            <a:lvl3pPr marL="685800" indent="-283464">
              <a:lnSpc>
                <a:spcPct val="100000"/>
              </a:lnSpc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defRPr sz="1800" i="0"/>
            </a:lvl3pPr>
            <a:lvl4pPr marL="685800">
              <a:lnSpc>
                <a:spcPct val="100000"/>
              </a:lnSpc>
              <a:spcBef>
                <a:spcPts val="1000"/>
              </a:spcBef>
              <a:defRPr sz="1800" i="0"/>
            </a:lvl4pPr>
            <a:lvl5pPr indent="-283464"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6/9/2025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©2025 IS478 – Group 2, DePaul University Confidential All Rights Reserved</a:t>
            </a: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476BAB9-3D46-228B-0268-9918F1524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4162733" y="1640806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9266E63-C7D2-1D99-7ACB-BFB299ACA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8211468" y="4824273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24544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580A73D-6706-8DB1-BAA5-9EC91EF6D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4394" y="-22764"/>
            <a:ext cx="4263211" cy="6903527"/>
          </a:xfrm>
          <a:prstGeom prst="rect">
            <a:avLst/>
          </a:prstGeom>
          <a:solidFill>
            <a:schemeClr val="bg1">
              <a:alpha val="2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alpha val="2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5FC5AD6-5EA9-4D31-BA29-EE3AABE223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96477" y="473322"/>
            <a:ext cx="4663440" cy="1371600"/>
          </a:xfrm>
        </p:spPr>
        <p:txBody>
          <a:bodyPr wrap="square" anchor="b" anchorCtr="0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A2E018F-B83F-5D9E-94F4-2B1C285CED13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48640" y="2751236"/>
            <a:ext cx="5200227" cy="3453419"/>
          </a:xfrm>
        </p:spPr>
        <p:txBody>
          <a:bodyPr>
            <a:noAutofit/>
          </a:bodyPr>
          <a:lstStyle>
            <a:lvl1pPr marL="283464" indent="-283464">
              <a:spcBef>
                <a:spcPts val="500"/>
              </a:spcBef>
              <a:defRPr sz="1800"/>
            </a:lvl1pPr>
            <a:lvl2pPr marL="283464">
              <a:spcBef>
                <a:spcPts val="500"/>
              </a:spcBef>
              <a:defRPr sz="1800"/>
            </a:lvl2pPr>
            <a:lvl3pPr marL="685800" indent="-283464">
              <a:spcBef>
                <a:spcPts val="500"/>
              </a:spcBef>
              <a:defRPr sz="1800"/>
            </a:lvl3pPr>
            <a:lvl4pPr marL="685800">
              <a:spcBef>
                <a:spcPts val="500"/>
              </a:spcBef>
              <a:defRPr sz="1800"/>
            </a:lvl4pPr>
            <a:lvl5pPr marL="1143000" indent="-283464">
              <a:spcBef>
                <a:spcPts val="5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266A202-7CFD-8B3B-C33C-D85F06445EC8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7091676" y="2751236"/>
            <a:ext cx="4663440" cy="3453420"/>
          </a:xfrm>
        </p:spPr>
        <p:txBody>
          <a:bodyPr lIns="137160">
            <a:noAutofit/>
          </a:bodyPr>
          <a:lstStyle>
            <a:lvl1pPr marL="34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1pPr>
            <a:lvl2pPr marL="70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2pPr>
            <a:lvl3pPr marL="113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3pPr>
            <a:lvl4pPr marL="1422900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4pPr>
            <a:lvl5pPr marL="1859436" indent="-342900">
              <a:spcBef>
                <a:spcPts val="1000"/>
              </a:spcBef>
              <a:buClr>
                <a:schemeClr val="accent5">
                  <a:lumMod val="60000"/>
                  <a:lumOff val="40000"/>
                </a:schemeClr>
              </a:buClr>
              <a:buFont typeface="+mj-lt"/>
              <a:buAutoNum type="arabicPeriod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85D87A86-18DB-4F48-991B-B96728C9E2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1338" y="6401999"/>
            <a:ext cx="2206625" cy="3693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>
                <a:solidFill>
                  <a:prstClr val="white">
                    <a:alpha val="70000"/>
                  </a:prstClr>
                </a:solidFill>
              </a:rPr>
              <a:t>6/9/2025</a:t>
            </a:r>
            <a:endParaRPr lang="en-US" dirty="0">
              <a:solidFill>
                <a:prstClr val="white">
                  <a:alpha val="70000"/>
                </a:prstClr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9F77D95-7E8B-48BA-B550-76A5C297FE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8350" y="6401999"/>
            <a:ext cx="5575300" cy="369332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all" spc="300" normalizeH="0" baseline="0" noProof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t>©2025 IS478 – Group 2, DePaul University Confidential All Rights Reserved</a:t>
            </a:r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5510D382-212F-47D7-A76F-181F22622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2800" y="6401999"/>
            <a:ext cx="2208212" cy="369332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9607A7-8386-47DB-8578-DDEDD194E5D4}" type="slidenum">
              <a:rPr kumimoji="0" lang="en-US" sz="1000" b="0" i="0" u="none" strike="noStrike" kern="1200" cap="all" spc="300" normalizeH="0" baseline="0" noProof="0" smtClean="0">
                <a:ln>
                  <a:noFill/>
                </a:ln>
                <a:solidFill>
                  <a:prstClr val="white">
                    <a:alpha val="70000"/>
                  </a:prstClr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all" spc="300" normalizeH="0" baseline="0" noProof="0" dirty="0">
              <a:ln>
                <a:noFill/>
              </a:ln>
              <a:solidFill>
                <a:prstClr val="white">
                  <a:alpha val="70000"/>
                </a:prstClr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EFDB4E-BF6D-A408-5BC2-566CFAECD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925672" y="299601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AB56F15-E907-330D-9B38-A066AC18F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644650" y="2996011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0BC4999-0180-A602-DA7F-3F952E259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97325" y="2977885"/>
            <a:ext cx="5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3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700152-D18D-4405-8FB2-5985831B5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500" y="1011238"/>
            <a:ext cx="10026650" cy="65563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2E92E1-0C4A-474E-8E29-8DB404101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9500" y="1790700"/>
            <a:ext cx="10026650" cy="39782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22E245-B48B-4526-8D2D-9475E64B06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1338" y="6401999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6/9/2025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0FE5C-A494-40F2-A357-786AFFA631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8350" y="6401999"/>
            <a:ext cx="5575300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ct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en-US"/>
              <a:t>©2025 IS478 – Group 2, DePaul University Confidential All Rights Reserved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686A1-EDE2-44D9-A671-F708A6F883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2800" y="6401999"/>
            <a:ext cx="2208212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r">
              <a:defRPr sz="1000" cap="all" spc="300" baseline="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39607A7-8386-47DB-8578-DDEDD194E5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1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28" r:id="rId12"/>
    <p:sldLayoutId id="2147483727" r:id="rId13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cap="all" spc="4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25000"/>
        </a:lnSpc>
        <a:spcBef>
          <a:spcPts val="10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Tx/>
        <a:buNone/>
        <a:defRPr sz="2000" i="1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25000"/>
        </a:lnSpc>
        <a:spcBef>
          <a:spcPts val="500"/>
        </a:spcBef>
        <a:buClr>
          <a:schemeClr val="accent1">
            <a:lumMod val="60000"/>
            <a:lumOff val="40000"/>
          </a:schemeClr>
        </a:buClr>
        <a:buFont typeface="Wingdings" panose="05000000000000000000" pitchFamily="2" charset="2"/>
        <a:buChar char="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19">
          <p15:clr>
            <a:srgbClr val="5ACBF0"/>
          </p15:clr>
        </p15:guide>
        <p15:guide id="2" pos="1731">
          <p15:clr>
            <a:srgbClr val="5ACBF0"/>
          </p15:clr>
        </p15:guide>
        <p15:guide id="3" pos="3140">
          <p15:clr>
            <a:srgbClr val="5ACBF0"/>
          </p15:clr>
        </p15:guide>
        <p15:guide id="4" pos="3488">
          <p15:clr>
            <a:srgbClr val="5ACBF0"/>
          </p15:clr>
        </p15:guide>
        <p15:guide id="5" pos="2788">
          <p15:clr>
            <a:srgbClr val="5ACBF0"/>
          </p15:clr>
        </p15:guide>
        <p15:guide id="6" pos="2434">
          <p15:clr>
            <a:srgbClr val="5ACBF0"/>
          </p15:clr>
        </p15:guide>
        <p15:guide id="7" pos="2084">
          <p15:clr>
            <a:srgbClr val="5ACBF0"/>
          </p15:clr>
        </p15:guide>
        <p15:guide id="8" pos="341">
          <p15:clr>
            <a:srgbClr val="F26B43"/>
          </p15:clr>
        </p15:guide>
        <p15:guide id="9" pos="1384">
          <p15:clr>
            <a:srgbClr val="5ACBF0"/>
          </p15:clr>
        </p15:guide>
        <p15:guide id="10" pos="1032">
          <p15:clr>
            <a:srgbClr val="5ACBF0"/>
          </p15:clr>
        </p15:guide>
        <p15:guide id="11" pos="680">
          <p15:clr>
            <a:srgbClr val="FDE53C"/>
          </p15:clr>
        </p15:guide>
        <p15:guide id="12" pos="4192">
          <p15:clr>
            <a:srgbClr val="5ACBF0"/>
          </p15:clr>
        </p15:guide>
        <p15:guide id="13" pos="4543">
          <p15:clr>
            <a:srgbClr val="5ACBF0"/>
          </p15:clr>
        </p15:guide>
        <p15:guide id="14" pos="4892">
          <p15:clr>
            <a:srgbClr val="5ACBF0"/>
          </p15:clr>
        </p15:guide>
        <p15:guide id="15" pos="5244">
          <p15:clr>
            <a:srgbClr val="5ACBF0"/>
          </p15:clr>
        </p15:guide>
        <p15:guide id="16" pos="5596">
          <p15:clr>
            <a:srgbClr val="5ACBF0"/>
          </p15:clr>
        </p15:guide>
        <p15:guide id="17" pos="5948">
          <p15:clr>
            <a:srgbClr val="5ACBF0"/>
          </p15:clr>
        </p15:guide>
        <p15:guide id="18" pos="6296">
          <p15:clr>
            <a:srgbClr val="5ACBF0"/>
          </p15:clr>
        </p15:guide>
        <p15:guide id="19" pos="6648">
          <p15:clr>
            <a:srgbClr val="5ACBF0"/>
          </p15:clr>
        </p15:guide>
        <p15:guide id="20" pos="6996">
          <p15:clr>
            <a:srgbClr val="FDE53C"/>
          </p15:clr>
        </p15:guide>
        <p15:guide id="21" orient="horz" pos="335">
          <p15:clr>
            <a:srgbClr val="F26B43"/>
          </p15:clr>
        </p15:guide>
        <p15:guide id="22" orient="horz" pos="680">
          <p15:clr>
            <a:srgbClr val="FDE53C"/>
          </p15:clr>
        </p15:guide>
        <p15:guide id="23" orient="horz" pos="1050">
          <p15:clr>
            <a:srgbClr val="5ACBF0"/>
          </p15:clr>
        </p15:guide>
        <p15:guide id="24" orient="horz" pos="1791">
          <p15:clr>
            <a:srgbClr val="5ACBF0"/>
          </p15:clr>
        </p15:guide>
        <p15:guide id="26" orient="horz" pos="2530">
          <p15:clr>
            <a:srgbClr val="5ACBF0"/>
          </p15:clr>
        </p15:guide>
        <p15:guide id="27" orient="horz" pos="2899">
          <p15:clr>
            <a:srgbClr val="5ACBF0"/>
          </p15:clr>
        </p15:guide>
        <p15:guide id="28" orient="horz" pos="3268">
          <p15:clr>
            <a:srgbClr val="5ACBF0"/>
          </p15:clr>
        </p15:guide>
        <p15:guide id="29" orient="horz" pos="3634">
          <p15:clr>
            <a:srgbClr val="FDE53C"/>
          </p15:clr>
        </p15:guide>
        <p15:guide id="30" orient="horz" pos="3979">
          <p15:clr>
            <a:srgbClr val="F26B43"/>
          </p15:clr>
        </p15:guide>
        <p15:guide id="31" orient="horz" pos="2160">
          <p15:clr>
            <a:srgbClr val="FDE53C"/>
          </p15:clr>
        </p15:guide>
        <p15:guide id="32" pos="7340">
          <p15:clr>
            <a:srgbClr val="F26B43"/>
          </p15:clr>
        </p15:guide>
        <p15:guide id="33" pos="3840">
          <p15:clr>
            <a:srgbClr val="FDE53C"/>
          </p15:clr>
        </p15:guide>
        <p15:guide id="34" orient="horz" pos="637">
          <p15:clr>
            <a:srgbClr val="C35EA4"/>
          </p15:clr>
        </p15:guide>
        <p15:guide id="35" orient="horz" pos="1128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27806-B2E4-AA77-4138-DF2D39E9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36" y="2337116"/>
            <a:ext cx="2659724" cy="265972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09319CA-88BF-B3BB-549A-773E0BD3E4B1}"/>
              </a:ext>
            </a:extLst>
          </p:cNvPr>
          <p:cNvSpPr txBox="1">
            <a:spLocks/>
          </p:cNvSpPr>
          <p:nvPr/>
        </p:nvSpPr>
        <p:spPr>
          <a:xfrm>
            <a:off x="565057" y="455951"/>
            <a:ext cx="11069224" cy="1838324"/>
          </a:xfrm>
          <a:prstGeom prst="rect">
            <a:avLst/>
          </a:prstGeom>
        </p:spPr>
        <p:txBody>
          <a:bodyPr>
            <a:normAutofit fontScale="25000" lnSpcReduction="20000"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9600" b="1" cap="none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Sustaining Integrity: A Digital Transformation Strategy for Chipotle </a:t>
            </a:r>
          </a:p>
          <a:p>
            <a:pPr algn="ctr">
              <a:lnSpc>
                <a:spcPct val="120000"/>
              </a:lnSpc>
            </a:pPr>
            <a:endParaRPr lang="en-US" sz="7600" b="1" cap="none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20000"/>
              </a:lnSpc>
            </a:pPr>
            <a:r>
              <a:rPr lang="en-US" sz="7600" cap="none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KICKOFF MEETING</a:t>
            </a:r>
          </a:p>
          <a:p>
            <a:pPr algn="ctr">
              <a:lnSpc>
                <a:spcPct val="120000"/>
              </a:lnSpc>
            </a:pPr>
            <a:r>
              <a:rPr lang="en-US" sz="7600" cap="none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JUNE 09, 2025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						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</a:b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			</a:t>
            </a:r>
            <a:endParaRPr lang="en-US" sz="2200" b="1" dirty="0">
              <a:latin typeface="Cambria" panose="02040503050406030204" pitchFamily="18" charset="0"/>
              <a:ea typeface="Cambria" panose="02040503050406030204" pitchFamily="18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6D5B31-6989-EB95-B81E-60163E9AEE81}"/>
              </a:ext>
            </a:extLst>
          </p:cNvPr>
          <p:cNvSpPr/>
          <p:nvPr/>
        </p:nvSpPr>
        <p:spPr>
          <a:xfrm>
            <a:off x="384241" y="269942"/>
            <a:ext cx="11423516" cy="63181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C59FEC-F68F-F24A-F64A-F5CDECD034BC}"/>
              </a:ext>
            </a:extLst>
          </p:cNvPr>
          <p:cNvSpPr txBox="1"/>
          <p:nvPr/>
        </p:nvSpPr>
        <p:spPr>
          <a:xfrm>
            <a:off x="8103141" y="5957115"/>
            <a:ext cx="378694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  <a:p>
            <a:pPr algn="ctr"/>
            <a:r>
              <a:rPr lang="en-US" sz="19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IS478 Group 2 | DePaul University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140CBD1-E00D-E54C-47B2-48CE2EB35711}"/>
              </a:ext>
            </a:extLst>
          </p:cNvPr>
          <p:cNvSpPr txBox="1">
            <a:spLocks/>
          </p:cNvSpPr>
          <p:nvPr/>
        </p:nvSpPr>
        <p:spPr>
          <a:xfrm>
            <a:off x="1936161" y="5039681"/>
            <a:ext cx="8319675" cy="58477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 cap="all" spc="4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lang="en-US" sz="40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rPr>
              <a:t>Chipotle Mexican Grill, Inc.</a:t>
            </a:r>
          </a:p>
        </p:txBody>
      </p:sp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19BAA02D-680B-4F63-5564-9DCD30771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8840" y="6508776"/>
            <a:ext cx="7863840" cy="457200"/>
          </a:xfrm>
        </p:spPr>
        <p:txBody>
          <a:bodyPr>
            <a:normAutofit/>
          </a:bodyPr>
          <a:lstStyle/>
          <a:p>
            <a:r>
              <a:rPr lang="en-US" sz="900" dirty="0"/>
              <a:t>©2025 IS478 – Group 2, DePaul University Confidential All Rights Reserved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9E69CC6B-B27A-9719-C0FC-0E0F08C96F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241" y="6552710"/>
            <a:ext cx="2206625" cy="369332"/>
          </a:xfrm>
        </p:spPr>
        <p:txBody>
          <a:bodyPr>
            <a:normAutofit/>
          </a:bodyPr>
          <a:lstStyle/>
          <a:p>
            <a:r>
              <a:rPr lang="en-US" sz="900" dirty="0"/>
              <a:t>6/9/2025</a:t>
            </a:r>
          </a:p>
        </p:txBody>
      </p:sp>
    </p:spTree>
    <p:extLst>
      <p:ext uri="{BB962C8B-B14F-4D97-AF65-F5344CB8AC3E}">
        <p14:creationId xmlns:p14="http://schemas.microsoft.com/office/powerpoint/2010/main" val="389691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6702-1C98-D063-31B7-3F96BB7E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41" y="539886"/>
            <a:ext cx="10778517" cy="865761"/>
          </a:xfrm>
        </p:spPr>
        <p:txBody>
          <a:bodyPr>
            <a:normAutofit/>
          </a:bodyPr>
          <a:lstStyle/>
          <a:p>
            <a:pPr algn="ctr"/>
            <a:r>
              <a:rPr lang="en-IN" sz="2400" b="1" cap="none" spc="0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KICKOFF MEETING 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CC2B1-F04F-62CE-4C3A-13A54FC38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41" y="1269459"/>
            <a:ext cx="10778517" cy="477141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Welcome and Introductions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Meet the Chipotle sponsors and IS478 consulting team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Project Goals and Scope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Understand the focus areas and key objectives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Engagement Overview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Project phases, deliverables, and approach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and Milestones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Key dates, phases, and final presentation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Collaboration and Communication Plan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Roles, meeting cadence, and stakeholder alignment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Q&amp;A and Next Steps</a:t>
            </a: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– Open discussion and alignment on immediate actions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79D41B-B7DE-C946-34EF-8B563BBF01AA}"/>
              </a:ext>
            </a:extLst>
          </p:cNvPr>
          <p:cNvSpPr/>
          <p:nvPr/>
        </p:nvSpPr>
        <p:spPr>
          <a:xfrm>
            <a:off x="384241" y="269942"/>
            <a:ext cx="11423516" cy="63181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8E06B4-B2C6-1104-FDE2-5177AA525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697" y="100559"/>
            <a:ext cx="1371600" cy="77152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A0DD1C1-F6B3-03FF-25FE-F5400E0D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8840" y="6508776"/>
            <a:ext cx="7863840" cy="457200"/>
          </a:xfrm>
        </p:spPr>
        <p:txBody>
          <a:bodyPr>
            <a:normAutofit/>
          </a:bodyPr>
          <a:lstStyle/>
          <a:p>
            <a:r>
              <a:rPr lang="en-US" sz="900" dirty="0"/>
              <a:t>©2025 IS478 – Group 2, DePaul University Confidential All Rights Reserved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0BC6080-508D-82F1-3A1B-9D62CDDD33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7564" y="316593"/>
            <a:ext cx="1641282" cy="300544"/>
          </a:xfrm>
          <a:prstGeom prst="rect">
            <a:avLst/>
          </a:prstGeom>
        </p:spPr>
      </p:pic>
      <p:sp>
        <p:nvSpPr>
          <p:cNvPr id="17" name="Date Placeholder 13">
            <a:extLst>
              <a:ext uri="{FF2B5EF4-FFF2-40B4-BE49-F238E27FC236}">
                <a16:creationId xmlns:a16="http://schemas.microsoft.com/office/drawing/2014/main" id="{FEF591D0-DB66-16D3-B863-E6EA5B44A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241" y="6552710"/>
            <a:ext cx="2206625" cy="369332"/>
          </a:xfrm>
        </p:spPr>
        <p:txBody>
          <a:bodyPr>
            <a:normAutofit/>
          </a:bodyPr>
          <a:lstStyle/>
          <a:p>
            <a:r>
              <a:rPr lang="en-US" sz="900" dirty="0"/>
              <a:t>6/9/2025</a:t>
            </a:r>
          </a:p>
        </p:txBody>
      </p:sp>
    </p:spTree>
    <p:extLst>
      <p:ext uri="{BB962C8B-B14F-4D97-AF65-F5344CB8AC3E}">
        <p14:creationId xmlns:p14="http://schemas.microsoft.com/office/powerpoint/2010/main" val="3530960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714B2-FB2F-D0EC-9E51-BF91EB9FB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30653-3C01-CAB1-7855-191A0215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41" y="539886"/>
            <a:ext cx="10778517" cy="865761"/>
          </a:xfrm>
        </p:spPr>
        <p:txBody>
          <a:bodyPr>
            <a:normAutofit/>
          </a:bodyPr>
          <a:lstStyle/>
          <a:p>
            <a:pPr algn="ctr"/>
            <a:r>
              <a:rPr lang="en-IN" sz="2400" b="1" cap="none" spc="0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TEAM INTRODUCTIONS</a:t>
            </a:r>
            <a:endParaRPr lang="en-IN" sz="2400" b="1" cap="none" spc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1D149-00E0-0772-9C1C-9D5215DDD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41" y="1269459"/>
            <a:ext cx="10778517" cy="477141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 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Sponsors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 Scott Boatwright – CEO, Chipotle Mexican Grill (Executive Sponsor)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Jason Kidd – Engagement Manager, Chipotle Mexican Grill (Day-to-Day Contact)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9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</a:rPr>
              <a:t>Consulting Team – IS 478 Group 2</a:t>
            </a: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Priyanka Erande – Executive Sponsor (IS478 Project Advisor &amp; Oversight)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Raghuvarun Kancharla – Client Services Representative (Primary Contact &amp; Client Communication)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Sudipth Saravanan – Project Lead (Strategy &amp; Execution Lead)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Vazeer Khan – Project Delivery Lead (PM &amp; Quality Assurance)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Sparshika Kumar – Stakeholder Engagement Coordinator (Interview &amp; Stakeholder Management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)</a:t>
            </a:r>
            <a:endParaRPr lang="en-US" sz="1900" i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endParaRPr lang="en-US" sz="1900" i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28D973-3429-60CF-760F-B3024FC7DB15}"/>
              </a:ext>
            </a:extLst>
          </p:cNvPr>
          <p:cNvSpPr/>
          <p:nvPr/>
        </p:nvSpPr>
        <p:spPr>
          <a:xfrm>
            <a:off x="384241" y="269942"/>
            <a:ext cx="11423516" cy="63181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A456A527-0274-A9F6-0A29-B33A0A378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8840" y="6508776"/>
            <a:ext cx="7863840" cy="457200"/>
          </a:xfrm>
        </p:spPr>
        <p:txBody>
          <a:bodyPr>
            <a:normAutofit/>
          </a:bodyPr>
          <a:lstStyle/>
          <a:p>
            <a:r>
              <a:rPr lang="en-US" sz="900" dirty="0"/>
              <a:t>©2025 IS478 – Group 2, DePaul University Confidential All Rights Reserved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15A194-0695-9885-651B-A873E26F5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564" y="316593"/>
            <a:ext cx="1641282" cy="3005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50B940-71A6-12E4-EECA-DDCA86F37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97" y="100559"/>
            <a:ext cx="1371600" cy="771525"/>
          </a:xfrm>
          <a:prstGeom prst="rect">
            <a:avLst/>
          </a:prstGeom>
        </p:spPr>
      </p:pic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DC7407EA-9F20-0A02-786D-9BBAE68323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241" y="6552710"/>
            <a:ext cx="2206625" cy="369332"/>
          </a:xfrm>
        </p:spPr>
        <p:txBody>
          <a:bodyPr>
            <a:normAutofit/>
          </a:bodyPr>
          <a:lstStyle/>
          <a:p>
            <a:r>
              <a:rPr lang="en-US" sz="900" dirty="0"/>
              <a:t>6/9/2025</a:t>
            </a:r>
          </a:p>
        </p:txBody>
      </p:sp>
    </p:spTree>
    <p:extLst>
      <p:ext uri="{BB962C8B-B14F-4D97-AF65-F5344CB8AC3E}">
        <p14:creationId xmlns:p14="http://schemas.microsoft.com/office/powerpoint/2010/main" val="1964965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85E6-D849-4559-0416-A35B1758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89F1B-1E43-A5C3-8767-426CB6AE8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41" y="539886"/>
            <a:ext cx="10778517" cy="865761"/>
          </a:xfrm>
        </p:spPr>
        <p:txBody>
          <a:bodyPr>
            <a:normAutofit/>
          </a:bodyPr>
          <a:lstStyle/>
          <a:p>
            <a:pPr algn="ctr"/>
            <a:r>
              <a:rPr lang="en-IN" sz="2400" b="1" cap="none" spc="0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STAKEHOLDER COLLABORATION COMMITMENT</a:t>
            </a:r>
            <a:endParaRPr lang="en-IN" sz="2400" b="1" cap="none" spc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80FED-DD72-9F2D-3E34-636D4E1CC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41" y="1269459"/>
            <a:ext cx="10778517" cy="47714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</a:rPr>
              <a:t>All stakeholders will contribute to: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Aligning project outcomes with Chipotle’s strategic vision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Identifying core operational challenges and innovation opportunities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Validating needs, use cases, and proposed strategies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Shaping practical solutions and the implementation roadmap</a:t>
            </a:r>
            <a:endParaRPr lang="en-US" sz="19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i="0" dirty="0">
                <a:latin typeface="Cambria" panose="02040503050406030204" pitchFamily="18" charset="0"/>
                <a:ea typeface="Cambria" panose="02040503050406030204" pitchFamily="18" charset="0"/>
              </a:rPr>
              <a:t>Maintaining open communication and shared accountability throughout the engagement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8D790A-6DC2-4B36-BE2B-3E5204B74EF5}"/>
              </a:ext>
            </a:extLst>
          </p:cNvPr>
          <p:cNvSpPr/>
          <p:nvPr/>
        </p:nvSpPr>
        <p:spPr>
          <a:xfrm>
            <a:off x="384241" y="269942"/>
            <a:ext cx="11423516" cy="63181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3E7B14F-F616-C6DA-D537-63A0D7C9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8840" y="6508776"/>
            <a:ext cx="7863840" cy="457200"/>
          </a:xfrm>
        </p:spPr>
        <p:txBody>
          <a:bodyPr>
            <a:normAutofit/>
          </a:bodyPr>
          <a:lstStyle/>
          <a:p>
            <a:r>
              <a:rPr lang="en-US" sz="900" dirty="0"/>
              <a:t>©2025 IS478 – Group 2, DePaul University Confidential All Rights Reserved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7D4D3B-4315-613D-43F1-036E3A12E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564" y="316593"/>
            <a:ext cx="1641282" cy="3005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56E37D-5907-D393-6AC7-9D984DE47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97" y="100559"/>
            <a:ext cx="1371600" cy="771525"/>
          </a:xfrm>
          <a:prstGeom prst="rect">
            <a:avLst/>
          </a:prstGeom>
        </p:spPr>
      </p:pic>
      <p:sp>
        <p:nvSpPr>
          <p:cNvPr id="13" name="Date Placeholder 13">
            <a:extLst>
              <a:ext uri="{FF2B5EF4-FFF2-40B4-BE49-F238E27FC236}">
                <a16:creationId xmlns:a16="http://schemas.microsoft.com/office/drawing/2014/main" id="{88E790AF-D2A1-DE93-0BE2-7A424DCF7AB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241" y="6552710"/>
            <a:ext cx="2206625" cy="369332"/>
          </a:xfrm>
        </p:spPr>
        <p:txBody>
          <a:bodyPr>
            <a:normAutofit/>
          </a:bodyPr>
          <a:lstStyle/>
          <a:p>
            <a:r>
              <a:rPr lang="en-US" sz="900" dirty="0"/>
              <a:t>6/9/2025</a:t>
            </a:r>
          </a:p>
        </p:txBody>
      </p:sp>
    </p:spTree>
    <p:extLst>
      <p:ext uri="{BB962C8B-B14F-4D97-AF65-F5344CB8AC3E}">
        <p14:creationId xmlns:p14="http://schemas.microsoft.com/office/powerpoint/2010/main" val="680775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0FD4C-64F7-4F3A-FF1F-4821D1225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26531-6409-F2D5-0C43-14DFBD40A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41" y="539886"/>
            <a:ext cx="10778517" cy="865761"/>
          </a:xfrm>
        </p:spPr>
        <p:txBody>
          <a:bodyPr>
            <a:normAutofit/>
          </a:bodyPr>
          <a:lstStyle/>
          <a:p>
            <a:pPr algn="ctr"/>
            <a:r>
              <a:rPr lang="en-IN" sz="2400" b="1" cap="none" spc="0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GOAL AND SCOPE</a:t>
            </a:r>
            <a:endParaRPr lang="en-IN" sz="2400" b="1" cap="none" spc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B1664-98B6-C66D-2725-71855FA72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41" y="1269459"/>
            <a:ext cx="10778517" cy="4771417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 Goal: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Assess Chipotle’s operational and digital infrastructure.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Enhance workforce management, supply chain resilience, and menu innovation.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Sustain growth while preserving brand principles of sustainability and food integrity.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 Scope: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Evaluating labor practices and digital tools.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Analyzing ethical sourcing challenges and supplier diversification.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Recommending improvements in customer engagement and digital ordering systems.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Delivering a phased roadmap and success metrics for implementation.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1"/>
            <a:endParaRPr lang="en-US" sz="1900" i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A7C47E-89E9-0374-9243-E92477C8D91F}"/>
              </a:ext>
            </a:extLst>
          </p:cNvPr>
          <p:cNvSpPr/>
          <p:nvPr/>
        </p:nvSpPr>
        <p:spPr>
          <a:xfrm>
            <a:off x="384241" y="269942"/>
            <a:ext cx="11423516" cy="63181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971B5A2-01E0-FD0D-54F4-C884313B2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8840" y="6508776"/>
            <a:ext cx="7863840" cy="457200"/>
          </a:xfrm>
        </p:spPr>
        <p:txBody>
          <a:bodyPr>
            <a:normAutofit/>
          </a:bodyPr>
          <a:lstStyle/>
          <a:p>
            <a:r>
              <a:rPr lang="en-US" sz="900" dirty="0"/>
              <a:t>©2025 IS478 – Group 2, DePaul University Confidential All Rights Reserved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FD9118-B492-6462-7838-0D209A6F5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564" y="316593"/>
            <a:ext cx="1641282" cy="3005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CDF460-821E-7A5C-87DB-1432EE776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97" y="100559"/>
            <a:ext cx="1371600" cy="771525"/>
          </a:xfrm>
          <a:prstGeom prst="rect">
            <a:avLst/>
          </a:prstGeom>
        </p:spPr>
      </p:pic>
      <p:sp>
        <p:nvSpPr>
          <p:cNvPr id="13" name="Date Placeholder 13">
            <a:extLst>
              <a:ext uri="{FF2B5EF4-FFF2-40B4-BE49-F238E27FC236}">
                <a16:creationId xmlns:a16="http://schemas.microsoft.com/office/drawing/2014/main" id="{643525AC-3613-26D1-08B5-74B7836F96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241" y="6552710"/>
            <a:ext cx="2206625" cy="369332"/>
          </a:xfrm>
        </p:spPr>
        <p:txBody>
          <a:bodyPr>
            <a:normAutofit/>
          </a:bodyPr>
          <a:lstStyle/>
          <a:p>
            <a:r>
              <a:rPr lang="en-US" sz="900" dirty="0"/>
              <a:t>6/9/2025</a:t>
            </a:r>
          </a:p>
        </p:txBody>
      </p:sp>
    </p:spTree>
    <p:extLst>
      <p:ext uri="{BB962C8B-B14F-4D97-AF65-F5344CB8AC3E}">
        <p14:creationId xmlns:p14="http://schemas.microsoft.com/office/powerpoint/2010/main" val="3154038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50B7D-DBE4-30DC-71FA-C920D8745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C824C-02CF-BF3B-4741-96F4764FF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41" y="539886"/>
            <a:ext cx="10778517" cy="865761"/>
          </a:xfrm>
        </p:spPr>
        <p:txBody>
          <a:bodyPr>
            <a:normAutofit/>
          </a:bodyPr>
          <a:lstStyle/>
          <a:p>
            <a:pPr algn="ctr"/>
            <a:r>
              <a:rPr lang="en-IN" sz="2400" b="1" cap="none" spc="0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OVERVIEW</a:t>
            </a:r>
            <a:endParaRPr lang="en-IN" sz="2400" b="1" cap="none" spc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18582-F95B-F998-A23D-63A66F8F4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41" y="1269459"/>
            <a:ext cx="10778517" cy="477141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Review existing documentation and processes related to HR, supply chain, and digital platforms.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Conduct interviews with stakeholders from HR, operations, and supply chain.	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Benchmark Chipotle’s performance against industry best practices.	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Design strategic recommendations focused on: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Reducing employee turnover.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Diversifying suppliers to address sourcing risks.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Innovating the digital experience and menu offerings.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Conduct cost-benefit and risk analyses to evaluate solution feasibility.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Prepare KPIs and an implementation roadmap.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Present final recommendations to Chipotle’s executive stakeholders.</a:t>
            </a:r>
            <a:endParaRPr lang="en-I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8E83DA-9B86-4156-06D9-5CEF0B7D9869}"/>
              </a:ext>
            </a:extLst>
          </p:cNvPr>
          <p:cNvSpPr/>
          <p:nvPr/>
        </p:nvSpPr>
        <p:spPr>
          <a:xfrm>
            <a:off x="384241" y="269942"/>
            <a:ext cx="11423516" cy="63181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C36F2A-615D-5B23-2C3B-DF6C41837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8840" y="6508776"/>
            <a:ext cx="7863840" cy="457200"/>
          </a:xfrm>
        </p:spPr>
        <p:txBody>
          <a:bodyPr>
            <a:normAutofit/>
          </a:bodyPr>
          <a:lstStyle/>
          <a:p>
            <a:r>
              <a:rPr lang="en-US" sz="900" dirty="0"/>
              <a:t>©2025 IS478 – Group 2, DePaul University Confidential All Rights Reserved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19E2FB-8B66-123F-4782-34EC20677A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564" y="316593"/>
            <a:ext cx="1641282" cy="3005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366CD1-B1FF-BCAA-C7CE-2F974CD58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97" y="100559"/>
            <a:ext cx="1371600" cy="771525"/>
          </a:xfrm>
          <a:prstGeom prst="rect">
            <a:avLst/>
          </a:prstGeom>
        </p:spPr>
      </p:pic>
      <p:sp>
        <p:nvSpPr>
          <p:cNvPr id="13" name="Date Placeholder 13">
            <a:extLst>
              <a:ext uri="{FF2B5EF4-FFF2-40B4-BE49-F238E27FC236}">
                <a16:creationId xmlns:a16="http://schemas.microsoft.com/office/drawing/2014/main" id="{665E67D4-5A4A-DE45-D2D9-D5AFFEBD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241" y="6552710"/>
            <a:ext cx="2206625" cy="369332"/>
          </a:xfrm>
        </p:spPr>
        <p:txBody>
          <a:bodyPr>
            <a:normAutofit/>
          </a:bodyPr>
          <a:lstStyle/>
          <a:p>
            <a:r>
              <a:rPr lang="en-US" sz="900" dirty="0"/>
              <a:t>6/9/2025</a:t>
            </a:r>
          </a:p>
        </p:txBody>
      </p:sp>
    </p:spTree>
    <p:extLst>
      <p:ext uri="{BB962C8B-B14F-4D97-AF65-F5344CB8AC3E}">
        <p14:creationId xmlns:p14="http://schemas.microsoft.com/office/powerpoint/2010/main" val="565276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1E698-C6D7-BDEF-9A40-C604436E7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FF010-BC1D-1435-007A-2B713629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41" y="539886"/>
            <a:ext cx="10778517" cy="865761"/>
          </a:xfrm>
        </p:spPr>
        <p:txBody>
          <a:bodyPr>
            <a:normAutofit/>
          </a:bodyPr>
          <a:lstStyle/>
          <a:p>
            <a:pPr algn="ctr"/>
            <a:r>
              <a:rPr lang="en-IN" sz="2400" b="1" cap="none" spc="0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TIMELINE</a:t>
            </a:r>
            <a:endParaRPr lang="en-IN" sz="2400" b="1" cap="none" spc="0" dirty="0">
              <a:latin typeface="+mn-lt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648D51E-C4A7-DE88-BF06-DA4B51CDF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7109302"/>
              </p:ext>
            </p:extLst>
          </p:nvPr>
        </p:nvGraphicFramePr>
        <p:xfrm>
          <a:off x="1990791" y="1449581"/>
          <a:ext cx="8210416" cy="292608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5917796">
                  <a:extLst>
                    <a:ext uri="{9D8B030D-6E8A-4147-A177-3AD203B41FA5}">
                      <a16:colId xmlns:a16="http://schemas.microsoft.com/office/drawing/2014/main" val="3863206875"/>
                    </a:ext>
                  </a:extLst>
                </a:gridCol>
                <a:gridCol w="2292620">
                  <a:extLst>
                    <a:ext uri="{9D8B030D-6E8A-4147-A177-3AD203B41FA5}">
                      <a16:colId xmlns:a16="http://schemas.microsoft.com/office/drawing/2014/main" val="670544127"/>
                    </a:ext>
                  </a:extLst>
                </a:gridCol>
              </a:tblGrid>
              <a:tr h="364686"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Milestone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/>
                        <a:t>Date</a:t>
                      </a:r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0312245"/>
                  </a:ext>
                </a:extLst>
              </a:tr>
              <a:tr h="364686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Project Kickoff 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June 09, 2025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287518"/>
                  </a:ext>
                </a:extLst>
              </a:tr>
              <a:tr h="364686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Discovery Phase Begins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June 14, 2025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6262363"/>
                  </a:ext>
                </a:extLst>
              </a:tr>
              <a:tr h="364686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Stakeholder Interviews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June 30, 2025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3334069"/>
                  </a:ext>
                </a:extLst>
              </a:tr>
              <a:tr h="364686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Benchmark Analysis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July 15, 2025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1840315"/>
                  </a:ext>
                </a:extLst>
              </a:tr>
              <a:tr h="364686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Strategy &amp; Roadmap Draft	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July 30, 2025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947664"/>
                  </a:ext>
                </a:extLst>
              </a:tr>
              <a:tr h="364686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Feedback &amp; Roadmap Finalization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August 20, 2025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8029870"/>
                  </a:ext>
                </a:extLst>
              </a:tr>
              <a:tr h="364686"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Executive Presentation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Calibri" panose="020F0502020204030204" pitchFamily="34" charset="0"/>
                        </a:rPr>
                        <a:t>September 05, 2025</a:t>
                      </a:r>
                      <a:endParaRPr lang="en-IN" b="0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8847005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1B08FB98-6DAD-EA59-FAF3-95CF7123B895}"/>
              </a:ext>
            </a:extLst>
          </p:cNvPr>
          <p:cNvSpPr/>
          <p:nvPr/>
        </p:nvSpPr>
        <p:spPr>
          <a:xfrm>
            <a:off x="384241" y="269942"/>
            <a:ext cx="11423516" cy="63181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3C00803-3497-5366-58DD-48BC855FB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8840" y="6508776"/>
            <a:ext cx="7863840" cy="457200"/>
          </a:xfrm>
        </p:spPr>
        <p:txBody>
          <a:bodyPr>
            <a:normAutofit/>
          </a:bodyPr>
          <a:lstStyle/>
          <a:p>
            <a:r>
              <a:rPr lang="en-US" sz="900" dirty="0"/>
              <a:t>©2025 IS478 – Group 2, DePaul University Confidential All Rights Reserved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257156-72E9-4526-2C85-018605DF9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564" y="316593"/>
            <a:ext cx="1641282" cy="3005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CDF578-5443-7B35-37F9-09F9E3A2A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97" y="100559"/>
            <a:ext cx="1371600" cy="771525"/>
          </a:xfrm>
          <a:prstGeom prst="rect">
            <a:avLst/>
          </a:prstGeom>
        </p:spPr>
      </p:pic>
      <p:sp>
        <p:nvSpPr>
          <p:cNvPr id="13" name="Date Placeholder 13">
            <a:extLst>
              <a:ext uri="{FF2B5EF4-FFF2-40B4-BE49-F238E27FC236}">
                <a16:creationId xmlns:a16="http://schemas.microsoft.com/office/drawing/2014/main" id="{A04F8D21-3DCF-A699-AC87-01CB1ABDC941}"/>
              </a:ext>
            </a:extLst>
          </p:cNvPr>
          <p:cNvSpPr txBox="1">
            <a:spLocks/>
          </p:cNvSpPr>
          <p:nvPr/>
        </p:nvSpPr>
        <p:spPr>
          <a:xfrm>
            <a:off x="384241" y="6552710"/>
            <a:ext cx="2206625" cy="36933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cap="all" spc="300" baseline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/>
              <a:t>6/9/2025</a:t>
            </a:r>
            <a:endParaRPr 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A03644-2890-1F30-C0E2-AFB5780F7939}"/>
              </a:ext>
            </a:extLst>
          </p:cNvPr>
          <p:cNvSpPr txBox="1"/>
          <p:nvPr/>
        </p:nvSpPr>
        <p:spPr>
          <a:xfrm>
            <a:off x="1990791" y="4545044"/>
            <a:ext cx="7299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800" b="1" dirty="0">
                <a:latin typeface="Cambria" panose="02040503050406030204" pitchFamily="18" charset="0"/>
                <a:ea typeface="Cambria" panose="02040503050406030204" pitchFamily="18" charset="0"/>
              </a:rPr>
              <a:t>Duration: ~12 weeks</a:t>
            </a:r>
          </a:p>
        </p:txBody>
      </p:sp>
    </p:spTree>
    <p:extLst>
      <p:ext uri="{BB962C8B-B14F-4D97-AF65-F5344CB8AC3E}">
        <p14:creationId xmlns:p14="http://schemas.microsoft.com/office/powerpoint/2010/main" val="2100475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652EB-07BE-24A1-A7F5-C1BD0F6FD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1D60B-5328-8B0E-17D7-C838CA322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741" y="539886"/>
            <a:ext cx="10778517" cy="865761"/>
          </a:xfrm>
        </p:spPr>
        <p:txBody>
          <a:bodyPr>
            <a:normAutofit/>
          </a:bodyPr>
          <a:lstStyle/>
          <a:p>
            <a:pPr algn="ctr"/>
            <a:r>
              <a:rPr lang="en-IN" sz="2400" b="1" cap="none" spc="0" dirty="0">
                <a:solidFill>
                  <a:schemeClr val="accent5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ENGAGEMENT COMMUNICATION PLAN</a:t>
            </a:r>
            <a:endParaRPr lang="en-IN" sz="2400" b="1" cap="none" spc="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9B4DFD-2106-C9A4-63EC-F1E81ABAD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41" y="1269459"/>
            <a:ext cx="10778517" cy="477141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Engagement Communication Guidelines:</a:t>
            </a: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	</a:t>
            </a:r>
            <a:b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Weekly Progress Meetings Scheduled team check-ins for status updates, blockers, and feedback alignment.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Project Management &amp; Collaboration Tools: </a:t>
            </a:r>
            <a:b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Team Collaboration: Email, Zoom/Teams for virtual meetings (preferred for internal coordination and quick updates)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Client Communications: </a:t>
            </a:r>
            <a:b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All client updates and reports will be routed through Jordan (Client Approver) for weekly approvals and alignment. Stakeholder feedback will be integrated during milestone reviews.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Supplier Contact Protocol:</a:t>
            </a:r>
            <a:br>
              <a:rPr lang="en-US" sz="1900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n-US" sz="19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IS478 – Group 2 will manage all external communication with potential solution providers. Chipotle team members should redirect any inquiries to: Raghuvarun Kancharla – Client Services Representative.	</a:t>
            </a:r>
            <a:endParaRPr lang="en-IN" sz="19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625AE8-C9FE-8EEE-0BC2-1C3C18435295}"/>
              </a:ext>
            </a:extLst>
          </p:cNvPr>
          <p:cNvSpPr/>
          <p:nvPr/>
        </p:nvSpPr>
        <p:spPr>
          <a:xfrm>
            <a:off x="384241" y="269942"/>
            <a:ext cx="11423516" cy="63181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3734D2-E170-0DC9-7A14-F8BD456FF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8840" y="6508776"/>
            <a:ext cx="7863840" cy="457200"/>
          </a:xfrm>
        </p:spPr>
        <p:txBody>
          <a:bodyPr>
            <a:normAutofit/>
          </a:bodyPr>
          <a:lstStyle/>
          <a:p>
            <a:r>
              <a:rPr lang="en-US" sz="900" dirty="0"/>
              <a:t>©2025 IS478 – Group 2, DePaul University Confidential All Rights Reserved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5A804B9-B365-45D3-A336-6B1CC2B92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564" y="316593"/>
            <a:ext cx="1641282" cy="3005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F0C221-FA2E-2D29-428A-E92498B0C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697" y="100559"/>
            <a:ext cx="1371600" cy="771525"/>
          </a:xfrm>
          <a:prstGeom prst="rect">
            <a:avLst/>
          </a:prstGeom>
        </p:spPr>
      </p:pic>
      <p:sp>
        <p:nvSpPr>
          <p:cNvPr id="13" name="Date Placeholder 13">
            <a:extLst>
              <a:ext uri="{FF2B5EF4-FFF2-40B4-BE49-F238E27FC236}">
                <a16:creationId xmlns:a16="http://schemas.microsoft.com/office/drawing/2014/main" id="{F394FAEC-A7EB-CFB9-13FB-EF621810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241" y="6552710"/>
            <a:ext cx="2206625" cy="369332"/>
          </a:xfrm>
        </p:spPr>
        <p:txBody>
          <a:bodyPr>
            <a:normAutofit/>
          </a:bodyPr>
          <a:lstStyle/>
          <a:p>
            <a:r>
              <a:rPr lang="en-US" sz="900" dirty="0"/>
              <a:t>6/9/2025</a:t>
            </a:r>
          </a:p>
        </p:txBody>
      </p:sp>
    </p:spTree>
    <p:extLst>
      <p:ext uri="{BB962C8B-B14F-4D97-AF65-F5344CB8AC3E}">
        <p14:creationId xmlns:p14="http://schemas.microsoft.com/office/powerpoint/2010/main" val="3079116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7D2C1-39B6-6F3C-67AA-BD418CD41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59D6D2-916E-99F5-641F-C104E5BD2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741" y="1269459"/>
            <a:ext cx="10778517" cy="477141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1900" dirty="0">
              <a:latin typeface="Avenir Next LT Pro Light (Body)"/>
            </a:endParaRPr>
          </a:p>
          <a:p>
            <a:pPr marL="0" indent="0" algn="ctr">
              <a:buNone/>
            </a:pPr>
            <a:endParaRPr lang="en-IN" sz="2400" b="1" dirty="0">
              <a:latin typeface="Avenir Next LT Pro Light (Body)"/>
            </a:endParaRPr>
          </a:p>
          <a:p>
            <a:pPr marL="0" indent="0" algn="ctr">
              <a:buNone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Thanks for Participation</a:t>
            </a:r>
            <a:endParaRPr lang="en-IN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Questions, Comments and Feedback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5F0DE3-D418-CDE3-2B93-CEA9C44DAADA}"/>
              </a:ext>
            </a:extLst>
          </p:cNvPr>
          <p:cNvSpPr/>
          <p:nvPr/>
        </p:nvSpPr>
        <p:spPr>
          <a:xfrm>
            <a:off x="384241" y="269942"/>
            <a:ext cx="11423516" cy="631811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Graphic 4" descr="Questions with solid fill">
            <a:extLst>
              <a:ext uri="{FF2B5EF4-FFF2-40B4-BE49-F238E27FC236}">
                <a16:creationId xmlns:a16="http://schemas.microsoft.com/office/drawing/2014/main" id="{7ABDE254-07C4-FC58-ADAB-96AECA5E5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60750" y="3428999"/>
            <a:ext cx="1470498" cy="1470498"/>
          </a:xfrm>
          <a:prstGeom prst="rect">
            <a:avLst/>
          </a:prstGeom>
        </p:spPr>
      </p:pic>
      <p:sp>
        <p:nvSpPr>
          <p:cNvPr id="13" name="Footer Placeholder 8">
            <a:extLst>
              <a:ext uri="{FF2B5EF4-FFF2-40B4-BE49-F238E27FC236}">
                <a16:creationId xmlns:a16="http://schemas.microsoft.com/office/drawing/2014/main" id="{26B1AECB-3E5D-1163-9151-D92AA207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48840" y="6508776"/>
            <a:ext cx="7863840" cy="457200"/>
          </a:xfrm>
        </p:spPr>
        <p:txBody>
          <a:bodyPr>
            <a:normAutofit/>
          </a:bodyPr>
          <a:lstStyle/>
          <a:p>
            <a:r>
              <a:rPr lang="en-US" sz="900" dirty="0"/>
              <a:t>©2025 IS478 – Group 2, DePaul University Confidential All Rights Reserved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BBC857-E872-42D2-299B-724B97C96D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7564" y="316593"/>
            <a:ext cx="1641282" cy="3005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BA47D63-DEA4-1393-9F3C-9A429A9A35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97" y="100559"/>
            <a:ext cx="1371600" cy="771525"/>
          </a:xfrm>
          <a:prstGeom prst="rect">
            <a:avLst/>
          </a:prstGeom>
        </p:spPr>
      </p:pic>
      <p:sp>
        <p:nvSpPr>
          <p:cNvPr id="17" name="Date Placeholder 13">
            <a:extLst>
              <a:ext uri="{FF2B5EF4-FFF2-40B4-BE49-F238E27FC236}">
                <a16:creationId xmlns:a16="http://schemas.microsoft.com/office/drawing/2014/main" id="{2275BCBA-8AAF-BA5E-C25F-F23DC9EEA4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4241" y="6552710"/>
            <a:ext cx="2206625" cy="369332"/>
          </a:xfrm>
        </p:spPr>
        <p:txBody>
          <a:bodyPr>
            <a:normAutofit/>
          </a:bodyPr>
          <a:lstStyle/>
          <a:p>
            <a:r>
              <a:rPr lang="en-US" sz="900" dirty="0"/>
              <a:t>6/9/2025</a:t>
            </a:r>
          </a:p>
        </p:txBody>
      </p:sp>
    </p:spTree>
    <p:extLst>
      <p:ext uri="{BB962C8B-B14F-4D97-AF65-F5344CB8AC3E}">
        <p14:creationId xmlns:p14="http://schemas.microsoft.com/office/powerpoint/2010/main" val="2190555315"/>
      </p:ext>
    </p:extLst>
  </p:cSld>
  <p:clrMapOvr>
    <a:masterClrMapping/>
  </p:clrMapOvr>
</p:sld>
</file>

<file path=ppt/theme/theme1.xml><?xml version="1.0" encoding="utf-8"?>
<a:theme xmlns:a="http://schemas.openxmlformats.org/drawingml/2006/main" name="LeafVTI">
  <a:themeElements>
    <a:clrScheme name="Leaf">
      <a:dk1>
        <a:sysClr val="windowText" lastClr="000000"/>
      </a:dk1>
      <a:lt1>
        <a:sysClr val="window" lastClr="FFFFFF"/>
      </a:lt1>
      <a:dk2>
        <a:srgbClr val="732124"/>
      </a:dk2>
      <a:lt2>
        <a:srgbClr val="F0EDE5"/>
      </a:lt2>
      <a:accent1>
        <a:srgbClr val="D34817"/>
      </a:accent1>
      <a:accent2>
        <a:srgbClr val="A68D65"/>
      </a:accent2>
      <a:accent3>
        <a:srgbClr val="728377"/>
      </a:accent3>
      <a:accent4>
        <a:srgbClr val="B4797B"/>
      </a:accent4>
      <a:accent5>
        <a:srgbClr val="CE8439"/>
      </a:accent5>
      <a:accent6>
        <a:srgbClr val="CF3A2A"/>
      </a:accent6>
      <a:hlink>
        <a:srgbClr val="D06853"/>
      </a:hlink>
      <a:folHlink>
        <a:srgbClr val="B67779"/>
      </a:folHlink>
    </a:clrScheme>
    <a:fontScheme name="Leaf">
      <a:majorFont>
        <a:latin typeface="Rockwell Nova Light"/>
        <a:ea typeface=""/>
        <a:cs typeface=""/>
      </a:majorFont>
      <a:minorFont>
        <a:latin typeface="Avenir Next LT Pro Light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afVTI" id="{AD13D32C-3873-4EF1-A28C-5D0E64FF0913}" vid="{0D2E0FD0-9C17-4337-BD21-33917FC300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70C3F92-C0AD-4E73-8A22-9D413A456B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75126FD-8B44-46F3-BEB2-D5456E76919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F021420E-D6CD-4398-9C5C-03FBF68874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Leaf design</Template>
  <TotalTime>1012</TotalTime>
  <Words>750</Words>
  <Application>Microsoft Office PowerPoint</Application>
  <PresentationFormat>Widescreen</PresentationFormat>
  <Paragraphs>99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Avenir Next LT Pro Light</vt:lpstr>
      <vt:lpstr>Avenir Next LT Pro Light (Body)</vt:lpstr>
      <vt:lpstr>Calibri</vt:lpstr>
      <vt:lpstr>Cambria</vt:lpstr>
      <vt:lpstr>Rockwell Nova Light</vt:lpstr>
      <vt:lpstr>Wingdings</vt:lpstr>
      <vt:lpstr>LeafVTI</vt:lpstr>
      <vt:lpstr>PowerPoint Presentation</vt:lpstr>
      <vt:lpstr>KICKOFF MEETING AGENDA</vt:lpstr>
      <vt:lpstr>PROJECT TEAM INTRODUCTIONS</vt:lpstr>
      <vt:lpstr>STAKEHOLDER COLLABORATION COMMITMENT</vt:lpstr>
      <vt:lpstr>PROJECT GOAL AND SCOPE</vt:lpstr>
      <vt:lpstr>PROJECT OVERVIEW</vt:lpstr>
      <vt:lpstr>PROJECT TIMELINE</vt:lpstr>
      <vt:lpstr>ENGAGEMENT COMMUNICATION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Chee Walton</dc:creator>
  <cp:lastModifiedBy>Priyanka Erande</cp:lastModifiedBy>
  <cp:revision>51</cp:revision>
  <dcterms:created xsi:type="dcterms:W3CDTF">2025-02-03T01:13:18Z</dcterms:created>
  <dcterms:modified xsi:type="dcterms:W3CDTF">2025-06-09T19:58:16Z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